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</a:rPr>
              <a:t>图书管理系统 · 技术汇报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57600"/>
            <a:ext cx="1371600" cy="54864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 err="1">
                <a:solidFill>
                  <a:srgbClr val="BFC8E0"/>
                </a:solidFill>
                <a:latin typeface="微软雅黑"/>
              </a:rPr>
              <a:t>前后端分离架构</a:t>
            </a:r>
            <a:r>
              <a:rPr sz="1900" b="0" dirty="0">
                <a:solidFill>
                  <a:srgbClr val="BFC8E0"/>
                </a:solidFill>
                <a:latin typeface="微软雅黑"/>
              </a:rPr>
              <a:t> / Tauri </a:t>
            </a:r>
            <a:r>
              <a:rPr sz="1900" b="0" dirty="0" err="1">
                <a:solidFill>
                  <a:srgbClr val="BFC8E0"/>
                </a:solidFill>
                <a:latin typeface="微软雅黑"/>
              </a:rPr>
              <a:t>多端客户端</a:t>
            </a:r>
            <a:r>
              <a:rPr sz="1900" b="0" dirty="0">
                <a:solidFill>
                  <a:srgbClr val="BFC8E0"/>
                </a:solidFill>
                <a:latin typeface="微软雅黑"/>
              </a:rPr>
              <a:t> / Cloudflare </a:t>
            </a:r>
            <a:r>
              <a:rPr sz="1900" b="0" dirty="0" err="1">
                <a:solidFill>
                  <a:srgbClr val="BFC8E0"/>
                </a:solidFill>
                <a:latin typeface="微软雅黑"/>
              </a:rPr>
              <a:t>公网发布</a:t>
            </a:r>
            <a:endParaRPr sz="1900" b="0" dirty="0">
              <a:solidFill>
                <a:srgbClr val="BFC8E0"/>
              </a:solidFill>
              <a:latin typeface="微软雅黑"/>
            </a:endParaRPr>
          </a:p>
          <a:p>
            <a:pPr algn="l"/>
            <a:r>
              <a:rPr sz="1900" b="0" dirty="0" err="1">
                <a:solidFill>
                  <a:srgbClr val="BFC8E0"/>
                </a:solidFill>
                <a:latin typeface="微软雅黑"/>
              </a:rPr>
              <a:t>郝翊翔</a:t>
            </a:r>
            <a:r>
              <a:rPr sz="1900" b="0">
                <a:solidFill>
                  <a:srgbClr val="BFC8E0"/>
                </a:solidFill>
                <a:latin typeface="微软雅黑"/>
              </a:rPr>
              <a:t>  ·  2026-</a:t>
            </a:r>
            <a:r>
              <a:rPr lang="en-US" sz="1900" b="0">
                <a:solidFill>
                  <a:srgbClr val="BFC8E0"/>
                </a:solidFill>
                <a:latin typeface="微软雅黑"/>
              </a:rPr>
              <a:t>11</a:t>
            </a:r>
            <a:endParaRPr sz="1900" b="0">
              <a:solidFill>
                <a:srgbClr val="BFC8E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汇报目录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1. 项目背景与痛点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2. 演进历程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14015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3. 总体架构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809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4. 后端服务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478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5. 数据库设计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6. 前端工程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8172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7. 多端客户端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486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8. 公网部署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9. 系统界面：管理员端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470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10. 系统界面：读者端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14015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11. 性能优化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9809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12. 安全与备份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478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13. 运行数据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B6E"/>
                </a:solidFill>
                <a:latin typeface="微软雅黑"/>
              </a:rPr>
              <a:t>14. 技术栈与总结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项目背景与痛点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原始痛点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单机版客户端与后端绑定同一台机器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更换本机 IP 后客户端立即连不上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后端地址硬编码，换机/换网即失效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单机 SQLite 无法多人同时使用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数据与程序耦合，迁移到新电脑需手工拷贝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建设目标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采用现代前后端分离架构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本机跑纯 API 后端，公网统一发布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Tauri 一套代码出桌面 + Android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客户端不硬编码地址，可配置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数据集中、可备份、可一键迁移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系统演进历程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第一阶段：单机版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Tauri + sidecar 内嵌后端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启动时拉起本地 8765 端口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换 IP / 换机即断连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第二阶段：前后端分离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后端独立为 Go 纯 API 进程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前端瘦客户端远程连接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CORS 放开，跨网访问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应用内数据库导出/导入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第三阶段：公网多端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Cloudflare Tunnel 公网映射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桌面 + Android 双端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缓存 + 移动端独立布局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统一品牌与版本规范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接入层（客户端）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Windows 瘦客户端（Tauri/NSIS）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Android arm64 客户端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统一 HTTPS 访问 API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服务器地址用户可配置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服务层（后端）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Go net/http 纯 API，监听 0.0.0.0:8765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Cloudflare Tunnel 公网映射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CORS 跨域放开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非 /api 路径返回 JSON 提示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数据层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SQLite 单文件库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WAL 模式支持并发读写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638 种 / 1923 册 / 5 读者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整库导出/导入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后端服务设计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技术栈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语言：Go（Golang）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HTTP：标准库 net/http + 轻量路由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驱动：modernc.org/sqlite（纯 Go，免 CGO）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鉴权：JWT Bearer Token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跨域：CORS 中间件统一处理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接口规范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统一 /api 前缀，RESTful 风格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GET 查询 / POST 新增 / PUT 修改 / DELETE 删除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统一 JSON 响应与错误结构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/api/health 健康检查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401 未登录、403 越权、404 未找到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数据库设计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存储特性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单文件 standalone/library_data.db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WAL 模式：读写不互相阻塞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支持多人同时在线查询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零配置、易备份、易迁移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核心数据表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books：ISBN/书名/作者/分类/地区/位置/总册数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readers：账号/姓名/角色/状态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borrows：读者/图书/借出/应还/归还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categories、regions：字典表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logs：操作审计日志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前端工程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技术选型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原生 HTML5 + ES Modules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无重型框架，按需动态加载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按视图拆分 js 模块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api/net/components/login 等分层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buildShell 同时填充桌面侧边栏与移动底部栏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视觉设计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Apple Glass 风格：backdrop-blur 毛玻璃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彩色渐变背景 + 圆角卡片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响应式：窄屏隐藏侧边栏、显示底部 Tab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统一品牌 Logo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状态色：成功/警告/错误统一配色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多端客户端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Tauri 框架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Rust 壳 + 系统 WebView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一套前端代码编译两端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Windows：NSIS 安装包，currentUser 模式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Android：arm64 debug APK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图标由 E:\lms_logo.png 全套生成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客户端机制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瘦客户端，不打包后端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首次启动引导填写服务器地址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地址存 localStorage，不硬编码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启动重试失败自动弹出输入框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HTTP 插件白名单放行 http/https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公网部署（双隧道）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隧道一：纯后端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cloudflared 把本机 8765 映射为公网 HTTPS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对外只提供 API，不嵌前端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客户端通过 https://xxx.trycloudflare.com 连接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后端 API：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  https://conversion-counseling-stock-cartridge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  .trycloudflare.com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Cloudflare 代理仅放行 443，后端兼容 HTTPS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隧道二：发布页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python http.server 托管 landing 静态页（8888）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产品介绍 + 各端下载链接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与后端隧道完全独立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发布页：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  https://fwd-tokyo-superb-reduce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  .trycloudflare.com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tools/ 集中管理 cloudflared 与启动脚本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系统界面 · 登录页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ef7e79e-69f1-4e55-87c7-98230a3a1b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486400" cy="3643335"/>
          </a:xfrm>
          <a:prstGeom prst="rect">
            <a:avLst/>
          </a:prstGeom>
        </p:spPr>
      </p:pic>
      <p:pic>
        <p:nvPicPr>
          <p:cNvPr id="5" name="Picture 4" descr="80aca18f-452f-457d-b57b-dadb75cda0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6433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系统界面 · 管理员控制台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460057d5-6f23-4f5e-b357-46f56a0c39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325880"/>
            <a:ext cx="10607040" cy="70437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系统界面 · 图书管理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952ca54d-1b7c-4c5c-bee4-ffa2c80663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3611880" cy="2398529"/>
          </a:xfrm>
          <a:prstGeom prst="rect">
            <a:avLst/>
          </a:prstGeom>
        </p:spPr>
      </p:pic>
      <p:pic>
        <p:nvPicPr>
          <p:cNvPr id="5" name="Picture 4" descr="24328bd0-d8fa-4cae-a882-08a02e5aff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463040"/>
            <a:ext cx="3611880" cy="2398529"/>
          </a:xfrm>
          <a:prstGeom prst="rect">
            <a:avLst/>
          </a:prstGeom>
        </p:spPr>
      </p:pic>
      <p:pic>
        <p:nvPicPr>
          <p:cNvPr id="6" name="Picture 5" descr="6c70c643-fc4f-4289-b5db-148fb768b6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463040"/>
            <a:ext cx="3611880" cy="23985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系统界面 · 读者与借阅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3ea16b-e3fb-4e58-b0a1-0baac07061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486400" cy="3643335"/>
          </a:xfrm>
          <a:prstGeom prst="rect">
            <a:avLst/>
          </a:prstGeom>
        </p:spPr>
      </p:pic>
      <p:pic>
        <p:nvPicPr>
          <p:cNvPr id="5" name="Picture 4" descr="e497ab14-4dad-4375-b7e1-12b7ca818b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6433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系统界面 · 操作日志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0c0afcf-2889-4f01-8708-e07ac1c0c5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325880"/>
            <a:ext cx="10607040" cy="70437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系统界面 · 读者馆藏浏览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f27c838-cbb4-43b2-a2fc-f06e222b8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325880"/>
            <a:ext cx="10607040" cy="70437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系统界面 · 读者自助服务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a8c8013-d8c7-4325-87c2-177993101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486400" cy="3643335"/>
          </a:xfrm>
          <a:prstGeom prst="rect">
            <a:avLst/>
          </a:prstGeom>
        </p:spPr>
      </p:pic>
      <p:pic>
        <p:nvPicPr>
          <p:cNvPr id="5" name="Picture 4" descr="9975754a-7aa6-4b14-a261-88cec47a92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6433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性能与体验优化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缓存策略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分类、地区、全量图书内存缓存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登录后预加载共享数据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筛选/排序/分页全部在本地完成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写操作后 invalidateCache 自动失效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切换页面零网络请求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交互与稳定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移动端独立底部 Tab 结构（非 CSS 补丁）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启动失败直接弹地址输入，不死等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减少重复请求，传输高效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统一 Apple Glass 现代视觉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安全与备份恢复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安全措施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JWT 接口级鉴权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备份/恢复仅管理员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密码不明文存储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HTTPS 加密传输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越权 403 拦截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数据备份迁移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应用内一键导出完整 .db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上传 .db 热恢复，不重启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换机迁移只需复制数据库文件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新电脑安装后导入即数据一致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运行数据与交付物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数据规模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图书种类：638 种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图书总册数：1923 册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注册读者：5 名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WAL 支持多人并发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交付物清单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Windows 客户端安装包（NSIS）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Android arm64 APK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后端独立 lms-server.exe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cloudflared 双隧道脚本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产品发布页与下载入口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技术栈一览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后端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Go / net/http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SQLite (modernc)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JWT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CORS / REST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前端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HTML5 / ES Modules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原生 JS + CSS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Apple Glass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响应式 / 独立移动布局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/>
            <a:r>
              <a:rPr sz="1600" b="1">
                <a:solidFill>
                  <a:srgbClr val="2B5CFF"/>
                </a:solidFill>
                <a:latin typeface="微软雅黑"/>
              </a:rPr>
              <a:t>客户端 / 部署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Tauri 2.x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Windows NSIS / Android WebView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Cloudflare Tunnel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555B6E"/>
                </a:solidFill>
                <a:latin typeface="微软雅黑"/>
              </a:rPr>
              <a:t>· Python http.server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6"/>
                </a:solidFill>
                <a:latin typeface="微软雅黑"/>
              </a:rP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7280" cy="45720"/>
          </a:xfrm>
          <a:prstGeom prst="rect">
            <a:avLst/>
          </a:prstGeom>
          <a:solidFill>
            <a:srgbClr val="2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B6E"/>
                </a:solidFill>
                <a:latin typeface="微软雅黑"/>
              </a:rPr>
              <a:t>· 已完成：前后端分离 + 多端客户端 + 公网发布 + 数据备份迁移全链路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B6E"/>
                </a:solidFill>
                <a:latin typeface="微软雅黑"/>
              </a:rPr>
              <a:t>· 解决痛点：换 IP 断连、单机不可扩展、数据难迁移三大核心问题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B6E"/>
                </a:solidFill>
                <a:latin typeface="微软雅黑"/>
              </a:rPr>
              <a:t>· 架构优势：瘦客户端、瘦后端、数据集中、可多人同时使用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B6E"/>
                </a:solidFill>
                <a:latin typeface="微软雅黑"/>
              </a:rPr>
              <a:t>· 后续方向：固定域名绑定隧道、iOS 端扩展、更丰富的统计报表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832</Words>
  <Application>Microsoft Office PowerPoint</Application>
  <PresentationFormat>宽屏</PresentationFormat>
  <Paragraphs>194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翊翔 郝</cp:lastModifiedBy>
  <cp:revision>2</cp:revision>
  <dcterms:created xsi:type="dcterms:W3CDTF">2013-01-27T09:14:16Z</dcterms:created>
  <dcterms:modified xsi:type="dcterms:W3CDTF">2026-09-22T11:26:00Z</dcterms:modified>
  <cp:category/>
</cp:coreProperties>
</file>